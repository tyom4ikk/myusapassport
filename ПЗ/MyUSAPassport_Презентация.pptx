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9" r:id="rId3"/>
    <p:sldId id="260" r:id="rId4"/>
    <p:sldId id="257" r:id="rId5"/>
    <p:sldId id="267" r:id="rId6"/>
    <p:sldId id="302" r:id="rId7"/>
    <p:sldId id="303" r:id="rId8"/>
    <p:sldId id="285" r:id="rId9"/>
    <p:sldId id="290" r:id="rId10"/>
    <p:sldId id="282" r:id="rId11"/>
    <p:sldId id="301" r:id="rId12"/>
    <p:sldId id="291" r:id="rId13"/>
    <p:sldId id="265" r:id="rId14"/>
    <p:sldId id="292" r:id="rId15"/>
    <p:sldId id="306" r:id="rId16"/>
    <p:sldId id="304" r:id="rId17"/>
    <p:sldId id="307" r:id="rId18"/>
    <p:sldId id="305" r:id="rId19"/>
    <p:sldId id="308" r:id="rId20"/>
    <p:sldId id="309" r:id="rId21"/>
    <p:sldId id="310" r:id="rId22"/>
    <p:sldId id="312" r:id="rId23"/>
    <p:sldId id="313" r:id="rId24"/>
    <p:sldId id="311" r:id="rId25"/>
    <p:sldId id="298" r:id="rId26"/>
    <p:sldId id="299" r:id="rId27"/>
    <p:sldId id="264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94660"/>
  </p:normalViewPr>
  <p:slideViewPr>
    <p:cSldViewPr>
      <p:cViewPr>
        <p:scale>
          <a:sx n="66" d="100"/>
          <a:sy n="66" d="100"/>
        </p:scale>
        <p:origin x="-1819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24.12.2025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2560" y="1052736"/>
            <a:ext cx="7406640" cy="779346"/>
          </a:xfrm>
        </p:spPr>
        <p:txBody>
          <a:bodyPr/>
          <a:lstStyle/>
          <a:p>
            <a:r>
              <a:rPr lang="ru-RU" b="1" dirty="0" smtClean="0"/>
              <a:t>КУРСОВОЙ ПРОЕКТ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51920" y="5085184"/>
            <a:ext cx="5292080" cy="1772816"/>
          </a:xfrm>
        </p:spPr>
        <p:txBody>
          <a:bodyPr>
            <a:normAutofit/>
          </a:bodyPr>
          <a:lstStyle/>
          <a:p>
            <a:pPr algn="l"/>
            <a:r>
              <a:rPr lang="ru-RU" sz="1800" b="1" dirty="0" smtClean="0"/>
              <a:t>Разработчик:</a:t>
            </a:r>
            <a:r>
              <a:rPr lang="ru-RU" sz="1800" dirty="0" smtClean="0"/>
              <a:t> </a:t>
            </a:r>
            <a:r>
              <a:rPr lang="ru-RU" sz="1800" dirty="0" err="1" smtClean="0"/>
              <a:t>Жакубеков</a:t>
            </a:r>
            <a:r>
              <a:rPr lang="ru-RU" sz="1800" dirty="0" smtClean="0"/>
              <a:t> Артём </a:t>
            </a:r>
            <a:r>
              <a:rPr lang="ru-RU" sz="1800" dirty="0" err="1" smtClean="0"/>
              <a:t>Каирбекович</a:t>
            </a:r>
            <a:endParaRPr lang="ru-RU" sz="1800" dirty="0" smtClean="0"/>
          </a:p>
          <a:p>
            <a:pPr algn="l"/>
            <a:r>
              <a:rPr lang="ru-RU" sz="1800" b="1" dirty="0" smtClean="0"/>
              <a:t>Группа:</a:t>
            </a:r>
            <a:r>
              <a:rPr lang="ru-RU" sz="1800" dirty="0" smtClean="0"/>
              <a:t> ИП-21</a:t>
            </a:r>
            <a:endParaRPr lang="en-US" sz="1800" dirty="0"/>
          </a:p>
          <a:p>
            <a:r>
              <a:rPr lang="ru-RU" sz="1800" b="1" dirty="0" smtClean="0"/>
              <a:t>Руководитель: </a:t>
            </a:r>
            <a:r>
              <a:rPr lang="ru-RU" sz="1800" dirty="0" err="1" smtClean="0"/>
              <a:t>Черноскутов</a:t>
            </a:r>
            <a:r>
              <a:rPr lang="ru-RU" sz="1800" dirty="0" smtClean="0"/>
              <a:t> Дмитрий Алексеевич</a:t>
            </a:r>
            <a:endParaRPr lang="ru-RU" sz="1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483768" y="2489137"/>
            <a:ext cx="49084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Тема: </a:t>
            </a:r>
            <a:r>
              <a:rPr lang="ru-RU" sz="2400" dirty="0" smtClean="0"/>
              <a:t>Проектирование и разработка </a:t>
            </a:r>
            <a:r>
              <a:rPr lang="ru-RU" sz="2400" dirty="0" err="1" smtClean="0"/>
              <a:t>веб-приложения</a:t>
            </a:r>
            <a:r>
              <a:rPr lang="ru-RU" sz="2400" dirty="0" smtClean="0"/>
              <a:t> для получения гражданства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Актуальность темы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 smtClean="0"/>
              <a:t>В последние годы количество людей, стремящихся получить гражданство США, </a:t>
            </a:r>
            <a:r>
              <a:rPr lang="ru-RU" sz="1800" dirty="0" err="1" smtClean="0"/>
              <a:t>грин-карту</a:t>
            </a:r>
            <a:r>
              <a:rPr lang="ru-RU" sz="1800" dirty="0" smtClean="0"/>
              <a:t> или иные иммиграционные статусы, стремительно растёт.</a:t>
            </a:r>
          </a:p>
          <a:p>
            <a:r>
              <a:rPr lang="ru-RU" sz="1800" dirty="0" smtClean="0"/>
              <a:t>Большинство заявителей сталкиваются с одинаковыми проблемами: сложность заполнения документов, отсутствие ясной информации о требованиях, высокая стоимость консультаций и риск ошибок, приводящих к отказам.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Цели и задачи проекта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b="1" dirty="0" smtClean="0"/>
              <a:t>Цель:</a:t>
            </a:r>
            <a:r>
              <a:rPr lang="ru-RU" sz="1800" dirty="0" smtClean="0"/>
              <a:t> </a:t>
            </a:r>
            <a:r>
              <a:rPr lang="ru-RU" sz="2000" dirty="0" smtClean="0"/>
              <a:t>Разработка </a:t>
            </a:r>
            <a:r>
              <a:rPr lang="ru-RU" sz="2000" dirty="0" err="1" smtClean="0"/>
              <a:t>веб-приложения</a:t>
            </a:r>
            <a:r>
              <a:rPr lang="ru-RU" sz="2000" dirty="0" smtClean="0"/>
              <a:t> </a:t>
            </a:r>
            <a:r>
              <a:rPr lang="ru-RU" sz="2000" b="1" dirty="0" smtClean="0"/>
              <a:t>“</a:t>
            </a:r>
            <a:r>
              <a:rPr lang="ru-RU" sz="2000" b="1" dirty="0" err="1" smtClean="0"/>
              <a:t>MyUSAPassport</a:t>
            </a:r>
            <a:r>
              <a:rPr lang="ru-RU" sz="2000" b="1" dirty="0" smtClean="0"/>
              <a:t>”, </a:t>
            </a:r>
            <a:r>
              <a:rPr lang="ru-RU" sz="2000" dirty="0" smtClean="0"/>
              <a:t>которое упрощает путь пользователя к подаче заявки на получение гражданства США или смену иммиграционного статуса. </a:t>
            </a:r>
          </a:p>
          <a:p>
            <a:pPr>
              <a:buNone/>
            </a:pPr>
            <a:endParaRPr lang="ru-RU" sz="1800" dirty="0" smtClean="0"/>
          </a:p>
          <a:p>
            <a:r>
              <a:rPr lang="ru-RU" sz="1800" b="1" dirty="0" smtClean="0"/>
              <a:t>Функции: </a:t>
            </a:r>
            <a:r>
              <a:rPr lang="ru-RU" sz="1800" dirty="0" smtClean="0"/>
              <a:t>Приложение предоставляет: автоматизированное заполнение форм; пошаговые инструкции, адаптированные под конкретную ситуацию пользователя; проверку корректности введённых данных; генерацию полного пакета документов; персональные рекомендации по дальнейшим действиям. </a:t>
            </a:r>
          </a:p>
          <a:p>
            <a:endParaRPr lang="ru-RU" sz="1800" dirty="0" smtClean="0"/>
          </a:p>
          <a:p>
            <a:endParaRPr lang="ru-RU" sz="1800" dirty="0" smtClean="0"/>
          </a:p>
          <a:p>
            <a:pPr>
              <a:buNone/>
            </a:pPr>
            <a:r>
              <a:rPr lang="ru-RU" sz="1800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Используемые технологии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1800" b="1" dirty="0" smtClean="0"/>
              <a:t>PHP 8.1+</a:t>
            </a:r>
            <a:r>
              <a:rPr lang="ru-RU" sz="1800" dirty="0" smtClean="0"/>
              <a:t> — серверная логика, маршрутизация</a:t>
            </a:r>
          </a:p>
          <a:p>
            <a:pPr lvl="0"/>
            <a:r>
              <a:rPr lang="ru-RU" sz="1800" b="1" dirty="0" err="1" smtClean="0"/>
              <a:t>MySQL</a:t>
            </a:r>
            <a:r>
              <a:rPr lang="ru-RU" sz="1800" b="1" dirty="0" smtClean="0"/>
              <a:t> 8.0</a:t>
            </a:r>
            <a:r>
              <a:rPr lang="ru-RU" sz="1800" dirty="0" smtClean="0"/>
              <a:t> — хранение данных</a:t>
            </a:r>
          </a:p>
          <a:p>
            <a:pPr lvl="0"/>
            <a:r>
              <a:rPr lang="ru-RU" sz="1800" b="1" dirty="0" smtClean="0"/>
              <a:t>HTML5, CSS, </a:t>
            </a:r>
            <a:r>
              <a:rPr lang="ru-RU" sz="1800" b="1" dirty="0" err="1" smtClean="0"/>
              <a:t>JavaScript</a:t>
            </a:r>
            <a:r>
              <a:rPr lang="ru-RU" sz="1800" dirty="0" smtClean="0"/>
              <a:t> — </a:t>
            </a:r>
            <a:r>
              <a:rPr lang="ru-RU" sz="1800" dirty="0" err="1" smtClean="0"/>
              <a:t>фронтенд</a:t>
            </a:r>
            <a:endParaRPr lang="ru-RU" sz="1800" dirty="0" smtClean="0"/>
          </a:p>
          <a:p>
            <a:pPr lvl="0"/>
            <a:r>
              <a:rPr lang="ru-RU" sz="1800" b="1" dirty="0" smtClean="0"/>
              <a:t>Файловая структура MVC-типа</a:t>
            </a:r>
            <a:r>
              <a:rPr lang="ru-RU" sz="1800" dirty="0" smtClean="0"/>
              <a:t> — контроллеры, модели и шаблоны представлений</a:t>
            </a:r>
          </a:p>
          <a:p>
            <a:r>
              <a:rPr lang="en-US" sz="1800" dirty="0" err="1" smtClean="0"/>
              <a:t>Git</a:t>
            </a:r>
            <a:r>
              <a:rPr lang="ru-RU" sz="1800" dirty="0" smtClean="0"/>
              <a:t> — контроль версий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База данных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84784"/>
            <a:ext cx="7498080" cy="4800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ER</a:t>
            </a:r>
            <a:r>
              <a:rPr lang="ru-RU" sz="1800" dirty="0" smtClean="0"/>
              <a:t>-диаграмма сайта </a:t>
            </a:r>
            <a:r>
              <a:rPr lang="en-US" sz="1800" dirty="0" err="1" smtClean="0"/>
              <a:t>MyUSAPassport</a:t>
            </a:r>
            <a:endParaRPr lang="ru-RU" sz="1800" dirty="0" smtClean="0"/>
          </a:p>
          <a:p>
            <a:endParaRPr sz="1800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5696" y="2060848"/>
            <a:ext cx="6192688" cy="36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Конфигурация базы данных вынесена в отдельный файл</a:t>
            </a:r>
            <a:endParaRPr lang="en-US" sz="1800" dirty="0" smtClean="0"/>
          </a:p>
          <a:p>
            <a:r>
              <a:rPr lang="en-US" sz="1800" dirty="0" smtClean="0"/>
              <a:t>Config.php:</a:t>
            </a:r>
            <a:endParaRPr lang="ru-RU" sz="1800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708920"/>
            <a:ext cx="5400600" cy="307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Подключение к базе данных при помощи </a:t>
            </a:r>
            <a:r>
              <a:rPr lang="en-US" sz="1800" dirty="0" smtClean="0"/>
              <a:t>PDO</a:t>
            </a:r>
          </a:p>
          <a:p>
            <a:r>
              <a:rPr lang="en-US" sz="1800" dirty="0" smtClean="0"/>
              <a:t>Database.php</a:t>
            </a:r>
            <a:endParaRPr lang="ru-RU" sz="1800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276872"/>
            <a:ext cx="5976664" cy="426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Архитектура</a:t>
            </a:r>
            <a:endParaRPr lang="ru-RU" sz="2400" dirty="0"/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ru-RU" sz="1800" dirty="0" smtClean="0">
                <a:latin typeface="+mj-lt"/>
                <a:ea typeface="Calibri" pitchFamily="34" charset="0"/>
                <a:cs typeface="Times New Roman" pitchFamily="18" charset="0"/>
              </a:rPr>
              <a:t>Приложение построено на основе архитектурного паттерна </a:t>
            </a:r>
            <a:r>
              <a:rPr lang="ru-RU" sz="1800" b="1" dirty="0" smtClean="0">
                <a:latin typeface="+mj-lt"/>
                <a:ea typeface="Calibri" pitchFamily="34" charset="0"/>
                <a:cs typeface="Times New Roman" pitchFamily="18" charset="0"/>
              </a:rPr>
              <a:t>MVC</a:t>
            </a:r>
            <a:r>
              <a:rPr lang="ru-RU" sz="1800" dirty="0" smtClean="0">
                <a:latin typeface="+mj-lt"/>
                <a:ea typeface="Calibri" pitchFamily="34" charset="0"/>
                <a:cs typeface="Times New Roman" pitchFamily="18" charset="0"/>
              </a:rPr>
              <a:t>:</a:t>
            </a:r>
            <a:endParaRPr lang="en-US" sz="1800" dirty="0" smtClean="0">
              <a:latin typeface="+mj-lt"/>
              <a:ea typeface="Calibri" pitchFamily="34" charset="0"/>
              <a:cs typeface="Times New Roman" pitchFamily="18" charset="0"/>
            </a:endParaRPr>
          </a:p>
          <a:p>
            <a:pPr lvl="0">
              <a:buNone/>
            </a:pPr>
            <a:endParaRPr lang="ru-RU" sz="1800" dirty="0" smtClean="0">
              <a:latin typeface="+mj-lt"/>
              <a:cs typeface="Arial" pitchFamily="34" charset="0"/>
            </a:endParaRPr>
          </a:p>
          <a:p>
            <a:pPr>
              <a:buNone/>
            </a:pP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2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cx="http://schemas.microsoft.com/office/drawing/2014/chartex" xmlns:wpc="http://schemas.microsoft.com/office/word/2010/wordprocessingCanvas" xmlns="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204864"/>
            <a:ext cx="3168352" cy="38221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24114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Архитектура</a:t>
            </a:r>
            <a:endParaRPr lang="ru-RU" sz="2400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Страницы проекта</a:t>
            </a:r>
          </a:p>
          <a:p>
            <a:endParaRPr lang="ru-RU" dirty="0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2060848"/>
            <a:ext cx="3649144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Сценарий использования сайта</a:t>
            </a:r>
            <a:endParaRPr lang="ru-RU" sz="2400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688" y="1196752"/>
            <a:ext cx="6768752" cy="449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51728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Главная страница сайта</a:t>
            </a:r>
            <a:endParaRPr lang="ru-RU" sz="24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5100" y="2141720"/>
            <a:ext cx="7499350" cy="3412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451728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Роли на сайте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1300" dirty="0" smtClean="0"/>
              <a:t>В проекте </a:t>
            </a:r>
            <a:r>
              <a:rPr lang="ru-RU" sz="1300" b="1" dirty="0" err="1" smtClean="0"/>
              <a:t>MyUSAPassport</a:t>
            </a:r>
            <a:r>
              <a:rPr lang="ru-RU" sz="1300" dirty="0" smtClean="0"/>
              <a:t> реализована следующая модель ролей и уровней доступа:</a:t>
            </a:r>
          </a:p>
          <a:p>
            <a:pPr>
              <a:buNone/>
            </a:pPr>
            <a:r>
              <a:rPr lang="ru-RU" sz="1300" b="1" dirty="0" smtClean="0"/>
              <a:t>Неавторизованный пользователь (гость)</a:t>
            </a:r>
          </a:p>
          <a:p>
            <a:pPr lvl="0"/>
            <a:r>
              <a:rPr lang="ru-RU" sz="1300" dirty="0" smtClean="0"/>
              <a:t>может просматривать информационные страницы сайта;</a:t>
            </a:r>
          </a:p>
          <a:p>
            <a:pPr lvl="0"/>
            <a:r>
              <a:rPr lang="ru-RU" sz="1300" dirty="0" smtClean="0"/>
              <a:t>имеет доступ к статьям, новостям, FAQ и описаниям процедур;</a:t>
            </a:r>
          </a:p>
          <a:p>
            <a:pPr lvl="0"/>
            <a:r>
              <a:rPr lang="ru-RU" sz="1300" dirty="0" smtClean="0"/>
              <a:t>может перейти на страницы входа и регистрации;</a:t>
            </a:r>
          </a:p>
          <a:p>
            <a:pPr lvl="0"/>
            <a:r>
              <a:rPr lang="ru-RU" sz="1300" b="1" dirty="0" smtClean="0"/>
              <a:t>не имеет доступа</a:t>
            </a:r>
            <a:r>
              <a:rPr lang="ru-RU" sz="1300" dirty="0" smtClean="0"/>
              <a:t> к созданию кейсов, загрузке документов и интерактивным функциям.</a:t>
            </a:r>
          </a:p>
          <a:p>
            <a:pPr>
              <a:buNone/>
            </a:pPr>
            <a:r>
              <a:rPr lang="ru-RU" sz="1300" b="1" dirty="0" smtClean="0"/>
              <a:t>Авторизованный пользователь</a:t>
            </a:r>
          </a:p>
          <a:p>
            <a:pPr lvl="0"/>
            <a:r>
              <a:rPr lang="ru-RU" sz="1300" dirty="0" smtClean="0"/>
              <a:t>может создавать и управлять собственными кейсами;</a:t>
            </a:r>
          </a:p>
          <a:p>
            <a:pPr lvl="0"/>
            <a:r>
              <a:rPr lang="ru-RU" sz="1300" dirty="0" smtClean="0"/>
              <a:t>может загружать документы;</a:t>
            </a:r>
          </a:p>
          <a:p>
            <a:pPr lvl="0"/>
            <a:r>
              <a:rPr lang="ru-RU" sz="1300" dirty="0" smtClean="0"/>
              <a:t>может оставлять отзывы и отправлять обращения;</a:t>
            </a:r>
          </a:p>
          <a:p>
            <a:pPr lvl="0"/>
            <a:r>
              <a:rPr lang="ru-RU" sz="1300" dirty="0" smtClean="0"/>
              <a:t>получает доступ к персонализированному функционалу приложения.</a:t>
            </a:r>
          </a:p>
          <a:p>
            <a:pPr>
              <a:buNone/>
            </a:pPr>
            <a:r>
              <a:rPr lang="ru-RU" sz="1300" b="1" dirty="0" smtClean="0"/>
              <a:t>Администратор</a:t>
            </a:r>
          </a:p>
          <a:p>
            <a:pPr lvl="0"/>
            <a:r>
              <a:rPr lang="ru-RU" sz="1300" dirty="0" smtClean="0"/>
              <a:t>имеет доступ к управлению </a:t>
            </a:r>
            <a:r>
              <a:rPr lang="ru-RU" sz="1300" dirty="0" err="1" smtClean="0"/>
              <a:t>контентом</a:t>
            </a:r>
            <a:r>
              <a:rPr lang="ru-RU" sz="1300" dirty="0" smtClean="0"/>
              <a:t> сайта;</a:t>
            </a:r>
          </a:p>
          <a:p>
            <a:pPr lvl="0"/>
            <a:r>
              <a:rPr lang="ru-RU" sz="1300" dirty="0" smtClean="0"/>
              <a:t>может создавать и редактировать статьи, новости и FAQ;</a:t>
            </a:r>
          </a:p>
          <a:p>
            <a:pPr lvl="0"/>
            <a:r>
              <a:rPr lang="ru-RU" sz="1300" dirty="0" smtClean="0"/>
              <a:t>выполняет обзор пользовательских документов;</a:t>
            </a:r>
          </a:p>
          <a:p>
            <a:pPr lvl="0"/>
            <a:r>
              <a:rPr lang="ru-RU" sz="1300" dirty="0" smtClean="0"/>
              <a:t>предоставляет обратную связь пользователям;</a:t>
            </a:r>
          </a:p>
          <a:p>
            <a:pPr lvl="0"/>
            <a:r>
              <a:rPr lang="ru-RU" sz="1300" dirty="0" smtClean="0"/>
              <a:t>управляет данными </a:t>
            </a:r>
            <a:r>
              <a:rPr lang="ru-RU" sz="1300" dirty="0" err="1" smtClean="0"/>
              <a:t>веб-приложения</a:t>
            </a:r>
            <a:r>
              <a:rPr lang="ru-RU" sz="1300" dirty="0" smtClean="0"/>
              <a:t> через административный интерфейс.</a:t>
            </a:r>
          </a:p>
          <a:p>
            <a:endParaRPr lang="ru-RU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Тестирование и отладка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1800" dirty="0" smtClean="0"/>
              <a:t>При попытке несанкционированного доступа к </a:t>
            </a:r>
            <a:r>
              <a:rPr lang="ru-RU" sz="1800" dirty="0" err="1" smtClean="0"/>
              <a:t>админ-панели</a:t>
            </a:r>
            <a:r>
              <a:rPr lang="ru-RU" sz="1800" dirty="0" smtClean="0"/>
              <a:t>, сайт</a:t>
            </a:r>
          </a:p>
          <a:p>
            <a:pPr>
              <a:buNone/>
            </a:pPr>
            <a:r>
              <a:rPr lang="ru-RU" sz="1800" dirty="0" smtClean="0"/>
              <a:t>переадресовывает на страницу </a:t>
            </a:r>
            <a:r>
              <a:rPr lang="en-US" sz="1800" dirty="0" smtClean="0"/>
              <a:t>denied.php</a:t>
            </a:r>
            <a:r>
              <a:rPr lang="ru-RU" sz="1800" dirty="0" smtClean="0"/>
              <a:t>:</a:t>
            </a:r>
          </a:p>
          <a:p>
            <a:pPr>
              <a:buNone/>
            </a:pPr>
            <a:endParaRPr lang="ru-RU" sz="1800" dirty="0" smtClean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712" y="2924944"/>
            <a:ext cx="6299835" cy="1482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Тестирование и отладка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1800" dirty="0" smtClean="0"/>
              <a:t>Как эта страница выглядит при входе от имени администратора:</a:t>
            </a:r>
          </a:p>
          <a:p>
            <a:pPr>
              <a:buNone/>
            </a:pPr>
            <a:endParaRPr lang="ru-RU" sz="18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1988840"/>
            <a:ext cx="475488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Тестирование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Реализована защита от </a:t>
            </a:r>
            <a:r>
              <a:rPr lang="en-US" sz="1800" dirty="0" smtClean="0"/>
              <a:t>SQL</a:t>
            </a:r>
            <a:r>
              <a:rPr lang="ru-RU" sz="1800" dirty="0" smtClean="0"/>
              <a:t>-инъекций</a:t>
            </a:r>
            <a:endParaRPr lang="ru-RU" sz="1800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72" y="2780928"/>
            <a:ext cx="6842229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Список отзывов</a:t>
            </a:r>
            <a:endParaRPr lang="ru-RU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276872"/>
            <a:ext cx="7320062" cy="3622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Новостной блок</a:t>
            </a:r>
            <a:endParaRPr lang="ru-RU" sz="1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988840"/>
            <a:ext cx="7069038" cy="42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Личный кабинет</a:t>
            </a:r>
            <a:endParaRPr lang="ru-RU" sz="18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276872"/>
            <a:ext cx="7140563" cy="3992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Wizard-</a:t>
            </a:r>
            <a:r>
              <a:rPr lang="ru-RU" sz="1800" dirty="0" smtClean="0"/>
              <a:t>анкета предоставляет возможность подобрать удобный путь получения гражданства любому пользователю.</a:t>
            </a:r>
            <a:endParaRPr lang="ru-RU" sz="18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4650" y="2492896"/>
            <a:ext cx="7499350" cy="3381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Результаты </a:t>
            </a:r>
            <a:r>
              <a:rPr lang="en-US" sz="1800" dirty="0" smtClean="0"/>
              <a:t>Wizard-</a:t>
            </a:r>
            <a:r>
              <a:rPr lang="ru-RU" sz="1800" dirty="0" smtClean="0"/>
              <a:t>анкеты</a:t>
            </a:r>
            <a:endParaRPr lang="ru-RU" sz="1800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132856"/>
            <a:ext cx="6959266" cy="3516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Миграционные кейсы</a:t>
            </a:r>
            <a:endParaRPr lang="ru-RU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204864"/>
            <a:ext cx="6469608" cy="3875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Блок документов одного кейса</a:t>
            </a:r>
            <a:endParaRPr lang="ru-RU" sz="1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500" y="2060848"/>
            <a:ext cx="7632972" cy="386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/>
              <a:t>Добавленные документы  сразу же отправляются на </a:t>
            </a:r>
            <a:r>
              <a:rPr lang="ru-RU" sz="1800" dirty="0" err="1" smtClean="0"/>
              <a:t>модерацию</a:t>
            </a:r>
            <a:r>
              <a:rPr lang="ru-RU" sz="1800" dirty="0" smtClean="0"/>
              <a:t> </a:t>
            </a:r>
            <a:r>
              <a:rPr lang="ru-RU" sz="1800" dirty="0" err="1" smtClean="0"/>
              <a:t>админу</a:t>
            </a:r>
            <a:endParaRPr lang="ru-RU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348880"/>
            <a:ext cx="7371556" cy="4009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Функционал</a:t>
            </a:r>
            <a:endParaRPr lang="ru-RU" sz="2400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err="1" smtClean="0"/>
              <a:t>Модерация</a:t>
            </a:r>
            <a:r>
              <a:rPr lang="ru-RU" sz="1800" dirty="0" smtClean="0"/>
              <a:t> отзывов в </a:t>
            </a:r>
            <a:r>
              <a:rPr lang="ru-RU" sz="1800" dirty="0" err="1" smtClean="0"/>
              <a:t>Админ-панели</a:t>
            </a:r>
            <a:endParaRPr lang="ru-RU" sz="1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132856"/>
            <a:ext cx="6918548" cy="4057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Доступ к сайту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 smtClean="0"/>
              <a:t>Было принято решение поднимать </a:t>
            </a:r>
            <a:r>
              <a:rPr lang="en-US" sz="1800" dirty="0" smtClean="0"/>
              <a:t>web-</a:t>
            </a:r>
            <a:r>
              <a:rPr lang="ru-RU" sz="1800" dirty="0" smtClean="0"/>
              <a:t>приложение на своей личной машине при помощи сервиса </a:t>
            </a:r>
            <a:r>
              <a:rPr lang="en-US" sz="1800" dirty="0" err="1" smtClean="0"/>
              <a:t>xTunnel</a:t>
            </a:r>
            <a:endParaRPr lang="ru-RU" sz="1800" dirty="0" smtClean="0"/>
          </a:p>
          <a:p>
            <a:endParaRPr lang="ru-RU" sz="1800" dirty="0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2348880"/>
            <a:ext cx="5793544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Доступ к сайту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 smtClean="0"/>
              <a:t>Выдача публичной ссылки</a:t>
            </a:r>
          </a:p>
          <a:p>
            <a:endParaRPr lang="ru-RU" sz="1800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3248" y="2204864"/>
            <a:ext cx="7215216" cy="211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Заключение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ru-RU" sz="1800" dirty="0" smtClean="0"/>
              <a:t>В результате выполнения курсового проекта было разработано </a:t>
            </a:r>
            <a:r>
              <a:rPr lang="ru-RU" sz="1800" dirty="0" err="1" smtClean="0"/>
              <a:t>веб-приложение</a:t>
            </a:r>
            <a:r>
              <a:rPr lang="ru-RU" sz="1800" dirty="0" smtClean="0"/>
              <a:t> </a:t>
            </a:r>
            <a:r>
              <a:rPr lang="ru-RU" sz="1800" b="1" dirty="0" err="1" smtClean="0"/>
              <a:t>MyUSAPassport</a:t>
            </a:r>
            <a:r>
              <a:rPr lang="ru-RU" sz="1800" dirty="0" smtClean="0"/>
              <a:t> — информационно-справочный </a:t>
            </a:r>
            <a:r>
              <a:rPr lang="ru-RU" sz="1800" dirty="0" err="1" smtClean="0"/>
              <a:t>веб-сервис</a:t>
            </a:r>
            <a:r>
              <a:rPr lang="ru-RU" sz="1800" dirty="0" smtClean="0"/>
              <a:t>, предназначенный для пользователей, изучающих процесс получения гражданства США и связанных с этим иммиграционных процедур.</a:t>
            </a:r>
          </a:p>
          <a:p>
            <a:pPr>
              <a:buNone/>
            </a:pPr>
            <a:endParaRPr lang="ru-RU" sz="1800" dirty="0" smtClean="0"/>
          </a:p>
          <a:p>
            <a:pPr>
              <a:buNone/>
            </a:pPr>
            <a:r>
              <a:rPr lang="ru-RU" sz="1800" b="1" dirty="0" smtClean="0"/>
              <a:t>Достигнутые цели проекта</a:t>
            </a:r>
          </a:p>
          <a:p>
            <a:pPr lvl="0"/>
            <a:r>
              <a:rPr lang="ru-RU" sz="1800" dirty="0" smtClean="0"/>
              <a:t>реализована система регистрации и авторизации пользователей на основе PHP-сессий;</a:t>
            </a:r>
          </a:p>
          <a:p>
            <a:pPr lvl="0"/>
            <a:r>
              <a:rPr lang="ru-RU" sz="1800" dirty="0" smtClean="0"/>
              <a:t>спроектирована и реализована реляционная база данных для хранения пользователей, статей, категорий, новостей, FAQ, </a:t>
            </a:r>
            <a:r>
              <a:rPr lang="ru-RU" sz="1800" dirty="0" err="1" smtClean="0"/>
              <a:t>чек-листов</a:t>
            </a:r>
            <a:r>
              <a:rPr lang="ru-RU" sz="1800" dirty="0" smtClean="0"/>
              <a:t> и пользовательских обращений;</a:t>
            </a:r>
          </a:p>
          <a:p>
            <a:pPr lvl="0"/>
            <a:r>
              <a:rPr lang="ru-RU" sz="1800" dirty="0" smtClean="0"/>
              <a:t>разработана MVC-подобная архитектура без использования сторонних </a:t>
            </a:r>
            <a:r>
              <a:rPr lang="ru-RU" sz="1800" dirty="0" err="1" smtClean="0"/>
              <a:t>фреймворков</a:t>
            </a:r>
            <a:r>
              <a:rPr lang="ru-RU" sz="1800" dirty="0" smtClean="0"/>
              <a:t>;</a:t>
            </a:r>
          </a:p>
          <a:p>
            <a:pPr lvl="0"/>
            <a:r>
              <a:rPr lang="ru-RU" sz="1800" dirty="0" smtClean="0"/>
              <a:t>реализована маршрутизация запросов через единый входной файл;</a:t>
            </a:r>
          </a:p>
          <a:p>
            <a:pPr lvl="0"/>
            <a:r>
              <a:rPr lang="ru-RU" sz="1800" dirty="0" smtClean="0"/>
              <a:t>создан информационный портал со структурированным </a:t>
            </a:r>
            <a:r>
              <a:rPr lang="ru-RU" sz="1800" dirty="0" err="1" smtClean="0"/>
              <a:t>контентом</a:t>
            </a:r>
            <a:r>
              <a:rPr lang="ru-RU" sz="1800" dirty="0" smtClean="0"/>
              <a:t>;</a:t>
            </a:r>
          </a:p>
          <a:p>
            <a:pPr lvl="0"/>
            <a:r>
              <a:rPr lang="ru-RU" sz="1800" dirty="0" smtClean="0"/>
              <a:t>реализован мастер подбора способа получения гражданства США;</a:t>
            </a:r>
          </a:p>
          <a:p>
            <a:pPr lvl="0"/>
            <a:r>
              <a:rPr lang="ru-RU" sz="1800" dirty="0" smtClean="0"/>
              <a:t>внедрена асинхронная отправка форм с использованием AJAX и </a:t>
            </a:r>
            <a:r>
              <a:rPr lang="ru-RU" sz="1800" dirty="0" err="1" smtClean="0"/>
              <a:t>Fetch</a:t>
            </a:r>
            <a:r>
              <a:rPr lang="ru-RU" sz="1800" dirty="0" smtClean="0"/>
              <a:t> API;</a:t>
            </a:r>
          </a:p>
          <a:p>
            <a:pPr lvl="0"/>
            <a:r>
              <a:rPr lang="ru-RU" sz="1800" dirty="0" smtClean="0"/>
              <a:t>обеспечена базовая защита данных за счёт использования PDO и подготовленных выражений;</a:t>
            </a:r>
          </a:p>
          <a:p>
            <a:pPr lvl="0"/>
            <a:r>
              <a:rPr lang="ru-RU" sz="1800" dirty="0" smtClean="0"/>
              <a:t>выполнено функциональное тестирование и отладка всех основных пользовательских сценариев.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2245</TotalTime>
  <Words>570</Words>
  <Application>Microsoft Office PowerPoint</Application>
  <PresentationFormat>Экран (4:3)</PresentationFormat>
  <Paragraphs>95</Paragraphs>
  <Slides>27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Солнцестояние</vt:lpstr>
      <vt:lpstr>КУРСОВОЙ ПРОЕКТ</vt:lpstr>
      <vt:lpstr>Актуальность темы</vt:lpstr>
      <vt:lpstr>Цели и задачи проекта</vt:lpstr>
      <vt:lpstr>Используемые технологии</vt:lpstr>
      <vt:lpstr>База данных</vt:lpstr>
      <vt:lpstr>Функционал</vt:lpstr>
      <vt:lpstr>Функционал</vt:lpstr>
      <vt:lpstr>Архитектура</vt:lpstr>
      <vt:lpstr>Архитектура</vt:lpstr>
      <vt:lpstr>Сценарий использования сайта</vt:lpstr>
      <vt:lpstr>Главная страница сайта</vt:lpstr>
      <vt:lpstr>Роли на сайте</vt:lpstr>
      <vt:lpstr>Тестирование и отладка</vt:lpstr>
      <vt:lpstr>Тестирование и отладка</vt:lpstr>
      <vt:lpstr>Тестирование</vt:lpstr>
      <vt:lpstr>Функционал</vt:lpstr>
      <vt:lpstr>Функционал</vt:lpstr>
      <vt:lpstr>Функционал</vt:lpstr>
      <vt:lpstr>Функционал</vt:lpstr>
      <vt:lpstr>Функционал</vt:lpstr>
      <vt:lpstr>Функционал</vt:lpstr>
      <vt:lpstr>Функционал</vt:lpstr>
      <vt:lpstr>Функционал</vt:lpstr>
      <vt:lpstr>Функционал</vt:lpstr>
      <vt:lpstr>Доступ к сайту</vt:lpstr>
      <vt:lpstr>Доступ к сайту</vt:lpstr>
      <vt:lpstr>Заключение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Серов Артем</dc:creator>
  <cp:lastModifiedBy>Серов Артем</cp:lastModifiedBy>
  <cp:revision>184</cp:revision>
  <dcterms:created xsi:type="dcterms:W3CDTF">2025-03-14T12:20:43Z</dcterms:created>
  <dcterms:modified xsi:type="dcterms:W3CDTF">2025-12-24T11:53:13Z</dcterms:modified>
</cp:coreProperties>
</file>