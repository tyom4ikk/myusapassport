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CB6183-FEB8-4D6F-800E-BB2894B00626}">
  <a:tblStyle styleId="{E5CB6183-FEB8-4D6F-800E-BB2894B006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Mono-bold.fntdata"/><Relationship Id="rId14" Type="http://schemas.openxmlformats.org/officeDocument/2006/relationships/slide" Target="slides/slide8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0a555b2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0a555b2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0a555b25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0a555b25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0a555b25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0a555b25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0a555b25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0a555b25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1ff7b54a9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1ff7b54a9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0a555b25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0a555b25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0a555b25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0a555b25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0a555b25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0a555b25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a555b25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a555b25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1ff7b54a9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1ff7b54a9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ff7b54a9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ff7b54a9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1ff7b54a9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1ff7b54a9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0a555b251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0a555b251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0c8d828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0c8d828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574e070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574e070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0c8d828e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50c8d828e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ff7b54a9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1ff7b54a9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50c8d828e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50c8d828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0c8d828e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0c8d828e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50c8d828e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50c8d828e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50c8d828e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50c8d828e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50c8d828e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50c8d828e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0c8d828e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50c8d828e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50c8d828e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50c8d828e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7da94d0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7da94d0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50c8d828e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50c8d828e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50c8d828e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50c8d828e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0c8d828e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0c8d828e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3574e0703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3574e0703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064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Модуль 1. </a:t>
            </a:r>
            <a:r>
              <a:rPr lang="ru"/>
              <a:t>Занятие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JavaScript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6025"/>
            <a:ext cx="8520600" cy="12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3380"/>
              <a:t>Язык сценариев JavaScript</a:t>
            </a:r>
            <a:endParaRPr sz="33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166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/>
              <a:t>Сведения о курсе</a:t>
            </a:r>
            <a:endParaRPr sz="30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21375"/>
            <a:ext cx="8520600" cy="3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Продолжительность курса: 24 пары (12 встреч)</a:t>
            </a:r>
            <a:endParaRPr sz="2000">
              <a:solidFill>
                <a:srgbClr val="EFEFE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Программа курса:</a:t>
            </a:r>
            <a:endParaRPr sz="20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ru" sz="2000">
                <a:solidFill>
                  <a:srgbClr val="EFEFEF"/>
                </a:solidFill>
              </a:rPr>
              <a:t>Модуль 1. Введение в программирование на JavaScript;</a:t>
            </a:r>
            <a:endParaRPr sz="20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ru" sz="2000">
                <a:solidFill>
                  <a:srgbClr val="EFEFEF"/>
                </a:solidFill>
              </a:rPr>
              <a:t>Модуль 2. ООП в JavaScript;</a:t>
            </a:r>
            <a:endParaRPr sz="20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ru" sz="2000">
                <a:solidFill>
                  <a:srgbClr val="EFEFEF"/>
                </a:solidFill>
              </a:rPr>
              <a:t>Модуль 3. Обработка событий;</a:t>
            </a:r>
            <a:endParaRPr sz="20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ru" sz="2000">
                <a:solidFill>
                  <a:srgbClr val="EFEFEF"/>
                </a:solidFill>
              </a:rPr>
              <a:t>Модуль 4. BOM и DOM;</a:t>
            </a:r>
            <a:endParaRPr sz="20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ru" sz="2000">
                <a:solidFill>
                  <a:srgbClr val="EFEFEF"/>
                </a:solidFill>
              </a:rPr>
              <a:t>Модуль 5. Формы;</a:t>
            </a:r>
            <a:endParaRPr sz="20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ru" sz="2000">
                <a:solidFill>
                  <a:srgbClr val="EFEFEF"/>
                </a:solidFill>
              </a:rPr>
              <a:t>Модуль 6. Хранение данных;</a:t>
            </a:r>
            <a:endParaRPr sz="2000">
              <a:solidFill>
                <a:srgbClr val="EFEFE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000"/>
              <a:buChar char="●"/>
            </a:pPr>
            <a:r>
              <a:rPr lang="ru" sz="2000">
                <a:solidFill>
                  <a:srgbClr val="EFEFEF"/>
                </a:solidFill>
              </a:rPr>
              <a:t>Модуль 7. Экзамен.</a:t>
            </a:r>
            <a:endParaRPr sz="20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21925"/>
            <a:ext cx="85206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/>
              <a:t>Виды языков программирования</a:t>
            </a:r>
            <a:endParaRPr sz="3300"/>
          </a:p>
        </p:txBody>
      </p:sp>
      <p:cxnSp>
        <p:nvCxnSpPr>
          <p:cNvPr id="67" name="Google Shape;67;p15"/>
          <p:cNvCxnSpPr/>
          <p:nvPr/>
        </p:nvCxnSpPr>
        <p:spPr>
          <a:xfrm flipH="1">
            <a:off x="2762525" y="1346150"/>
            <a:ext cx="673200" cy="522300"/>
          </a:xfrm>
          <a:prstGeom prst="straightConnector1">
            <a:avLst/>
          </a:prstGeom>
          <a:noFill/>
          <a:ln cap="flat" cmpd="sng" w="28575">
            <a:solidFill>
              <a:srgbClr val="EFEFE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5"/>
          <p:cNvCxnSpPr/>
          <p:nvPr/>
        </p:nvCxnSpPr>
        <p:spPr>
          <a:xfrm>
            <a:off x="5776425" y="1346150"/>
            <a:ext cx="633000" cy="502200"/>
          </a:xfrm>
          <a:prstGeom prst="straightConnector1">
            <a:avLst/>
          </a:prstGeom>
          <a:noFill/>
          <a:ln cap="flat" cmpd="sng" w="28575">
            <a:solidFill>
              <a:srgbClr val="EFEFE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5"/>
          <p:cNvSpPr txBox="1"/>
          <p:nvPr>
            <p:ph type="title"/>
          </p:nvPr>
        </p:nvSpPr>
        <p:spPr>
          <a:xfrm>
            <a:off x="874050" y="1988975"/>
            <a:ext cx="3480900" cy="25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A4C2F4"/>
                </a:solidFill>
              </a:rPr>
              <a:t>Интерпретируемые</a:t>
            </a:r>
            <a:endParaRPr sz="2500">
              <a:solidFill>
                <a:srgbClr val="A4C2F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Каждый раз перед запуском проекта интерпретатор (платформа) генерирует код на машинном языке.</a:t>
            </a:r>
            <a:endParaRPr sz="2000"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789050" y="1988975"/>
            <a:ext cx="3480900" cy="2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A4C2F4"/>
                </a:solidFill>
              </a:rPr>
              <a:t>Компилируемые</a:t>
            </a:r>
            <a:endParaRPr sz="2500">
              <a:solidFill>
                <a:srgbClr val="A4C2F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77"/>
              <a:t>При первом запуске проекта компилятор создаёт файл </a:t>
            </a:r>
            <a:r>
              <a:rPr lang="ru" sz="1677">
                <a:solidFill>
                  <a:srgbClr val="A4C2F4"/>
                </a:solidFill>
              </a:rPr>
              <a:t>.OBJ</a:t>
            </a:r>
            <a:r>
              <a:rPr lang="ru" sz="1677"/>
              <a:t>, который содержит в себе код, переведённый на машинный язык. При дальнейших запусках машинный код не генерируется.</a:t>
            </a:r>
            <a:endParaRPr sz="1677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518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Принцип работы интерпретатора на frontend</a:t>
            </a:r>
            <a:endParaRPr sz="2820"/>
          </a:p>
        </p:txBody>
      </p:sp>
      <p:sp>
        <p:nvSpPr>
          <p:cNvPr id="76" name="Google Shape;76;p16"/>
          <p:cNvSpPr/>
          <p:nvPr/>
        </p:nvSpPr>
        <p:spPr>
          <a:xfrm>
            <a:off x="1109263" y="1709000"/>
            <a:ext cx="1524000" cy="2282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Исходный код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(скрипт)</a:t>
            </a:r>
            <a:endParaRPr b="1"/>
          </a:p>
        </p:txBody>
      </p:sp>
      <p:sp>
        <p:nvSpPr>
          <p:cNvPr id="77" name="Google Shape;77;p16"/>
          <p:cNvSpPr/>
          <p:nvPr/>
        </p:nvSpPr>
        <p:spPr>
          <a:xfrm>
            <a:off x="3299738" y="1709000"/>
            <a:ext cx="1524000" cy="22827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Интерпретатор</a:t>
            </a:r>
            <a:endParaRPr b="1"/>
          </a:p>
        </p:txBody>
      </p:sp>
      <p:sp>
        <p:nvSpPr>
          <p:cNvPr id="78" name="Google Shape;78;p16"/>
          <p:cNvSpPr/>
          <p:nvPr/>
        </p:nvSpPr>
        <p:spPr>
          <a:xfrm>
            <a:off x="5792750" y="1709000"/>
            <a:ext cx="2205300" cy="907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Операционная система</a:t>
            </a:r>
            <a:endParaRPr b="1"/>
          </a:p>
        </p:txBody>
      </p:sp>
      <p:sp>
        <p:nvSpPr>
          <p:cNvPr id="79" name="Google Shape;79;p16"/>
          <p:cNvSpPr/>
          <p:nvPr/>
        </p:nvSpPr>
        <p:spPr>
          <a:xfrm>
            <a:off x="5792750" y="3084200"/>
            <a:ext cx="2205300" cy="907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Окно (вкладка) браузера</a:t>
            </a:r>
            <a:endParaRPr b="1"/>
          </a:p>
        </p:txBody>
      </p:sp>
      <p:sp>
        <p:nvSpPr>
          <p:cNvPr id="80" name="Google Shape;80;p16"/>
          <p:cNvSpPr/>
          <p:nvPr/>
        </p:nvSpPr>
        <p:spPr>
          <a:xfrm>
            <a:off x="4978388" y="3336200"/>
            <a:ext cx="659700" cy="40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2759500" y="2648600"/>
            <a:ext cx="414000" cy="40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4962088" y="1993100"/>
            <a:ext cx="659700" cy="3393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3925" y="2542325"/>
            <a:ext cx="1462125" cy="14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507550" y="2699200"/>
            <a:ext cx="4161000" cy="1679100"/>
          </a:xfrm>
          <a:prstGeom prst="roundRect">
            <a:avLst>
              <a:gd fmla="val 10157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if (program != null)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	browser.magic();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	alert(</a:t>
            </a:r>
            <a:r>
              <a:rPr lang="ru" sz="22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"Try again"</a:t>
            </a: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426488" y="4073475"/>
            <a:ext cx="179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EFEFEF"/>
                </a:solidFill>
              </a:rPr>
              <a:t>Browser</a:t>
            </a:r>
            <a:endParaRPr sz="2400">
              <a:solidFill>
                <a:srgbClr val="EFEFEF"/>
              </a:solidFill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262300" y="2364950"/>
            <a:ext cx="2365389" cy="416175"/>
          </a:xfrm>
          <a:custGeom>
            <a:rect b="b" l="l" r="r" t="t"/>
            <a:pathLst>
              <a:path extrusionOk="0" h="16647" w="114422">
                <a:moveTo>
                  <a:pt x="0" y="8945"/>
                </a:moveTo>
                <a:cubicBezTo>
                  <a:pt x="4523" y="7784"/>
                  <a:pt x="14547" y="3261"/>
                  <a:pt x="27138" y="1977"/>
                </a:cubicBezTo>
                <a:cubicBezTo>
                  <a:pt x="39729" y="694"/>
                  <a:pt x="61001" y="-1201"/>
                  <a:pt x="75548" y="1244"/>
                </a:cubicBezTo>
                <a:cubicBezTo>
                  <a:pt x="90095" y="3689"/>
                  <a:pt x="107943" y="14080"/>
                  <a:pt x="114422" y="16647"/>
                </a:cubicBezTo>
              </a:path>
            </a:pathLst>
          </a:custGeom>
          <a:noFill/>
          <a:ln cap="flat" cmpd="sng" w="38100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91" name="Google Shape;91;p17"/>
          <p:cNvSpPr txBox="1"/>
          <p:nvPr/>
        </p:nvSpPr>
        <p:spPr>
          <a:xfrm>
            <a:off x="451100" y="348400"/>
            <a:ext cx="82419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EFEFEF"/>
                </a:solidFill>
              </a:rPr>
              <a:t>Если в гипертекст будет включен код программы, то кто-то должен эту программу выполнять. Поскольку обработкой гипертекста и отображением страницы занимается браузер, логично, что и выполнять программы придется именно ему.</a:t>
            </a:r>
            <a:endParaRPr sz="22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JavaScript?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501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u="sng">
                <a:solidFill>
                  <a:srgbClr val="EFEFEF"/>
                </a:solidFill>
              </a:rPr>
              <a:t>JavaScript</a:t>
            </a:r>
            <a:r>
              <a:rPr lang="ru">
                <a:solidFill>
                  <a:srgbClr val="EFEFEF"/>
                </a:solidFill>
              </a:rPr>
              <a:t> – это </a:t>
            </a:r>
            <a:r>
              <a:rPr lang="ru">
                <a:solidFill>
                  <a:srgbClr val="A4C2F4"/>
                </a:solidFill>
              </a:rPr>
              <a:t>язык программирования</a:t>
            </a:r>
            <a:r>
              <a:rPr lang="ru">
                <a:solidFill>
                  <a:srgbClr val="EFEFEF"/>
                </a:solidFill>
              </a:rPr>
              <a:t>, который используют разработчики для создания </a:t>
            </a:r>
            <a:r>
              <a:rPr lang="ru">
                <a:solidFill>
                  <a:srgbClr val="A4C2F4"/>
                </a:solidFill>
              </a:rPr>
              <a:t>интерактивных </a:t>
            </a:r>
            <a:r>
              <a:rPr lang="ru">
                <a:solidFill>
                  <a:srgbClr val="EFEFEF"/>
                </a:solidFill>
              </a:rPr>
              <a:t>веб-страниц. С его помощью можно путём программирования реализовывать различные дополнительные функции сайта, которые невозможно (или сложно) реализовать на чистом </a:t>
            </a:r>
            <a:r>
              <a:rPr lang="ru">
                <a:solidFill>
                  <a:srgbClr val="A4C2F4"/>
                </a:solidFill>
              </a:rPr>
              <a:t>HTML &amp; CSS</a:t>
            </a:r>
            <a:r>
              <a:rPr lang="ru">
                <a:solidFill>
                  <a:srgbClr val="EFEFEF"/>
                </a:solidFill>
              </a:rPr>
              <a:t> или проблемно написать на серверной стороне сайта.</a:t>
            </a:r>
            <a:endParaRPr>
              <a:solidFill>
                <a:srgbClr val="EFEFEF"/>
              </a:solidFill>
            </a:endParaRPr>
          </a:p>
        </p:txBody>
      </p:sp>
      <p:pic>
        <p:nvPicPr>
          <p:cNvPr descr="Javascript Icon Png #393508 - Free Icons Library" id="98" name="Google Shape;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3800" y="1254975"/>
            <a:ext cx="2633550" cy="26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2708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/>
              <a:t>Возможности программ на </a:t>
            </a:r>
            <a:r>
              <a:rPr lang="ru" sz="2720"/>
              <a:t>JavaScript</a:t>
            </a:r>
            <a:endParaRPr sz="2720"/>
          </a:p>
        </p:txBody>
      </p:sp>
      <p:pic>
        <p:nvPicPr>
          <p:cNvPr descr="Javascript Icon Png #393508 - Free Icons Library"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1150" y="1600800"/>
            <a:ext cx="1941900" cy="19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4961950" y="1108200"/>
            <a:ext cx="26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арифметика</a:t>
            </a:r>
            <a:endParaRPr sz="2000">
              <a:solidFill>
                <a:srgbClr val="EFEFEF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4961950" y="1600800"/>
            <a:ext cx="26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логика</a:t>
            </a:r>
            <a:endParaRPr sz="2000">
              <a:solidFill>
                <a:srgbClr val="EFEFEF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4961950" y="2093400"/>
            <a:ext cx="26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операции с текстом</a:t>
            </a:r>
            <a:endParaRPr sz="2000">
              <a:solidFill>
                <a:srgbClr val="EFEFEF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4613625" y="2657200"/>
            <a:ext cx="337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обработка событий</a:t>
            </a:r>
            <a:endParaRPr sz="2000">
              <a:solidFill>
                <a:srgbClr val="EFEFEF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434700" y="3149800"/>
            <a:ext cx="312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работа с содержимым страницы</a:t>
            </a:r>
            <a:endParaRPr sz="2000">
              <a:solidFill>
                <a:srgbClr val="EFEFEF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4049400" y="3950200"/>
            <a:ext cx="26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работа с сервером</a:t>
            </a:r>
            <a:endParaRPr sz="2000">
              <a:solidFill>
                <a:srgbClr val="EFEFEF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1573900" y="4144125"/>
            <a:ext cx="26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динамичность</a:t>
            </a:r>
            <a:endParaRPr sz="2000">
              <a:solidFill>
                <a:srgbClr val="EFEFEF"/>
              </a:solidFill>
            </a:endParaRPr>
          </a:p>
        </p:txBody>
      </p:sp>
      <p:cxnSp>
        <p:nvCxnSpPr>
          <p:cNvPr id="112" name="Google Shape;112;p19"/>
          <p:cNvCxnSpPr/>
          <p:nvPr/>
        </p:nvCxnSpPr>
        <p:spPr>
          <a:xfrm flipH="1" rot="10800000">
            <a:off x="3568350" y="1461525"/>
            <a:ext cx="1686900" cy="412500"/>
          </a:xfrm>
          <a:prstGeom prst="straightConnector1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9"/>
          <p:cNvCxnSpPr/>
          <p:nvPr/>
        </p:nvCxnSpPr>
        <p:spPr>
          <a:xfrm flipH="1" rot="10800000">
            <a:off x="3568350" y="1910725"/>
            <a:ext cx="1833600" cy="311700"/>
          </a:xfrm>
          <a:prstGeom prst="straightConnector1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9"/>
          <p:cNvCxnSpPr/>
          <p:nvPr/>
        </p:nvCxnSpPr>
        <p:spPr>
          <a:xfrm flipH="1" rot="10800000">
            <a:off x="3586700" y="2420375"/>
            <a:ext cx="1448700" cy="141300"/>
          </a:xfrm>
          <a:prstGeom prst="straightConnector1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9"/>
          <p:cNvCxnSpPr/>
          <p:nvPr/>
        </p:nvCxnSpPr>
        <p:spPr>
          <a:xfrm>
            <a:off x="3605025" y="2818375"/>
            <a:ext cx="1329300" cy="73500"/>
          </a:xfrm>
          <a:prstGeom prst="straightConnector1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9"/>
          <p:cNvCxnSpPr/>
          <p:nvPr/>
        </p:nvCxnSpPr>
        <p:spPr>
          <a:xfrm>
            <a:off x="3595875" y="3111775"/>
            <a:ext cx="972000" cy="192600"/>
          </a:xfrm>
          <a:prstGeom prst="straightConnector1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3440000" y="3350150"/>
            <a:ext cx="1035900" cy="522600"/>
          </a:xfrm>
          <a:prstGeom prst="straightConnector1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9"/>
          <p:cNvCxnSpPr/>
          <p:nvPr/>
        </p:nvCxnSpPr>
        <p:spPr>
          <a:xfrm>
            <a:off x="3082425" y="3533525"/>
            <a:ext cx="238500" cy="568500"/>
          </a:xfrm>
          <a:prstGeom prst="straightConnector1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1883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/>
              <a:t>Ограничения языка</a:t>
            </a:r>
            <a:endParaRPr sz="2720"/>
          </a:p>
        </p:txBody>
      </p:sp>
      <p:pic>
        <p:nvPicPr>
          <p:cNvPr descr="Javascript Icon Png #393508 - Free Icons Library" id="124" name="Google Shape;1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750" y="1830025"/>
            <a:ext cx="1941900" cy="19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4136800" y="1068150"/>
            <a:ext cx="432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файловая система компьютера</a:t>
            </a:r>
            <a:endParaRPr sz="2000">
              <a:solidFill>
                <a:srgbClr val="EFEFEF"/>
              </a:solidFill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 flipH="1" rot="10800000">
            <a:off x="2981575" y="1443000"/>
            <a:ext cx="999300" cy="57030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0"/>
          <p:cNvSpPr txBox="1"/>
          <p:nvPr/>
        </p:nvSpPr>
        <p:spPr>
          <a:xfrm>
            <a:off x="4136800" y="1785375"/>
            <a:ext cx="432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настройка ОС и других программ</a:t>
            </a:r>
            <a:endParaRPr sz="2000">
              <a:solidFill>
                <a:srgbClr val="EFEFEF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136800" y="2502600"/>
            <a:ext cx="432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обмен данными с </a:t>
            </a:r>
            <a:r>
              <a:rPr lang="ru" sz="2000">
                <a:solidFill>
                  <a:srgbClr val="EFEFEF"/>
                </a:solidFill>
              </a:rPr>
              <a:t>"чужими" серверами</a:t>
            </a:r>
            <a:endParaRPr sz="2000">
              <a:solidFill>
                <a:srgbClr val="EFEFEF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136800" y="3527625"/>
            <a:ext cx="432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</a:rPr>
              <a:t>взаимодействие с другими вкладками браузера</a:t>
            </a:r>
            <a:endParaRPr sz="2000">
              <a:solidFill>
                <a:srgbClr val="EFEFEF"/>
              </a:solidFill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3229125" y="1560750"/>
            <a:ext cx="405300" cy="405300"/>
          </a:xfrm>
          <a:prstGeom prst="mathMultiply">
            <a:avLst>
              <a:gd fmla="val 13959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20"/>
          <p:cNvCxnSpPr/>
          <p:nvPr/>
        </p:nvCxnSpPr>
        <p:spPr>
          <a:xfrm flipH="1" rot="10800000">
            <a:off x="3009075" y="2139825"/>
            <a:ext cx="953400" cy="25680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0"/>
          <p:cNvCxnSpPr/>
          <p:nvPr/>
        </p:nvCxnSpPr>
        <p:spPr>
          <a:xfrm>
            <a:off x="3082425" y="2809225"/>
            <a:ext cx="861900" cy="10080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0"/>
          <p:cNvCxnSpPr/>
          <p:nvPr/>
        </p:nvCxnSpPr>
        <p:spPr>
          <a:xfrm>
            <a:off x="3091600" y="3295150"/>
            <a:ext cx="889500" cy="421800"/>
          </a:xfrm>
          <a:prstGeom prst="straightConnector1">
            <a:avLst/>
          </a:prstGeom>
          <a:noFill/>
          <a:ln cap="flat" cmpd="sng" w="28575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0"/>
          <p:cNvSpPr/>
          <p:nvPr/>
        </p:nvSpPr>
        <p:spPr>
          <a:xfrm>
            <a:off x="3285575" y="2065575"/>
            <a:ext cx="405300" cy="405300"/>
          </a:xfrm>
          <a:prstGeom prst="mathMultiply">
            <a:avLst>
              <a:gd fmla="val 13959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3285575" y="2643238"/>
            <a:ext cx="405300" cy="405300"/>
          </a:xfrm>
          <a:prstGeom prst="mathMultiply">
            <a:avLst>
              <a:gd fmla="val 13959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3285575" y="3295175"/>
            <a:ext cx="405300" cy="405300"/>
          </a:xfrm>
          <a:prstGeom prst="mathMultiply">
            <a:avLst>
              <a:gd fmla="val 13959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11700" y="4981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Добавление скрипта в документ</a:t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846600" y="1291700"/>
            <a:ext cx="7450800" cy="1528800"/>
          </a:xfrm>
          <a:prstGeom prst="roundRect">
            <a:avLst>
              <a:gd fmla="val 10157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200">
                <a:latin typeface="Courier New"/>
                <a:ea typeface="Courier New"/>
                <a:cs typeface="Courier New"/>
                <a:sym typeface="Courier New"/>
              </a:rPr>
              <a:t>Тело_скрипта</a:t>
            </a:r>
            <a:endParaRPr i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846600" y="3066200"/>
            <a:ext cx="7450800" cy="1164900"/>
          </a:xfrm>
          <a:prstGeom prst="roundRect">
            <a:avLst>
              <a:gd fmla="val 10157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ourier New"/>
                <a:ea typeface="Courier New"/>
                <a:cs typeface="Courier New"/>
                <a:sym typeface="Courier New"/>
              </a:rPr>
              <a:t>&lt;script src=</a:t>
            </a:r>
            <a:r>
              <a:rPr lang="ru" sz="25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i="1" lang="ru" sz="25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путь_к_файлу</a:t>
            </a:r>
            <a:r>
              <a:rPr lang="ru" sz="25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ru" sz="2500">
                <a:latin typeface="Courier New"/>
                <a:ea typeface="Courier New"/>
                <a:cs typeface="Courier New"/>
                <a:sym typeface="Courier New"/>
              </a:rPr>
              <a:t>&gt;&lt;/script&gt;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522125"/>
            <a:ext cx="85206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Комментирование кода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Однострочный комментарий</a:t>
            </a: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846600" y="1524000"/>
            <a:ext cx="7450800" cy="3019800"/>
          </a:xfrm>
          <a:prstGeom prst="roundRect">
            <a:avLst>
              <a:gd fmla="val 10157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Однострочный комментарий</a:t>
            </a:r>
            <a:endParaRPr sz="29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Игнорируется браузером</a:t>
            </a:r>
            <a:endParaRPr sz="29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var num; </a:t>
            </a:r>
            <a:r>
              <a:rPr lang="ru" sz="29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Создание переменной</a:t>
            </a:r>
            <a:endParaRPr sz="29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var num; </a:t>
            </a:r>
            <a:r>
              <a:rPr lang="ru" sz="29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Спрятанный</a:t>
            </a:r>
            <a:r>
              <a:rPr lang="ru" sz="29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код</a:t>
            </a:r>
            <a:endParaRPr sz="29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366875"/>
            <a:ext cx="85206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Комментирование кода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Многострочный комментарий</a:t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846600" y="1340550"/>
            <a:ext cx="7450800" cy="3294900"/>
          </a:xfrm>
          <a:prstGeom prst="roundRect">
            <a:avLst>
              <a:gd fmla="val 10157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/* Многострочный комментарий.</a:t>
            </a:r>
            <a:endParaRPr sz="27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Растягивается на несколько строк</a:t>
            </a:r>
            <a:endParaRPr sz="27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кода. Игнорируется браузером*/</a:t>
            </a:r>
            <a:endParaRPr sz="27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/* var n1;</a:t>
            </a:r>
            <a:endParaRPr sz="27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n1 = 10;*/</a:t>
            </a:r>
            <a:endParaRPr sz="27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latin typeface="Courier New"/>
                <a:ea typeface="Courier New"/>
                <a:cs typeface="Courier New"/>
                <a:sym typeface="Courier New"/>
              </a:rPr>
              <a:t>alert(</a:t>
            </a:r>
            <a:r>
              <a:rPr lang="ru" sz="27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/*'</a:t>
            </a:r>
            <a:r>
              <a:rPr lang="ru" sz="27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Вывод'</a:t>
            </a:r>
            <a:r>
              <a:rPr lang="ru" sz="27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*/</a:t>
            </a:r>
            <a:r>
              <a:rPr lang="ru" sz="27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7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3321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Вывод сообщения на экран</a:t>
            </a:r>
            <a:endParaRPr sz="2820"/>
          </a:p>
        </p:txBody>
      </p:sp>
      <p:sp>
        <p:nvSpPr>
          <p:cNvPr id="161" name="Google Shape;161;p24"/>
          <p:cNvSpPr/>
          <p:nvPr/>
        </p:nvSpPr>
        <p:spPr>
          <a:xfrm>
            <a:off x="592675" y="1079525"/>
            <a:ext cx="7958700" cy="903000"/>
          </a:xfrm>
          <a:prstGeom prst="roundRect">
            <a:avLst>
              <a:gd fmla="val 15634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latin typeface="Courier New"/>
                <a:ea typeface="Courier New"/>
                <a:cs typeface="Courier New"/>
                <a:sym typeface="Courier New"/>
              </a:rPr>
              <a:t>alert(</a:t>
            </a:r>
            <a:r>
              <a:rPr i="1" lang="ru" sz="3200">
                <a:latin typeface="Courier New"/>
                <a:ea typeface="Courier New"/>
                <a:cs typeface="Courier New"/>
                <a:sym typeface="Courier New"/>
              </a:rPr>
              <a:t>сообщение</a:t>
            </a:r>
            <a:r>
              <a:rPr lang="ru" sz="32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592675" y="2269175"/>
            <a:ext cx="7958700" cy="2260500"/>
          </a:xfrm>
          <a:prstGeom prst="roundRect">
            <a:avLst>
              <a:gd fmla="val 7640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alert(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'Hello world!'</a:t>
            </a: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alert(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'Операция отклонена.'</a:t>
            </a: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alert(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'Сеанс завершён. Поздравляем!'</a:t>
            </a: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3321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Вывод сообщения в консоль</a:t>
            </a:r>
            <a:endParaRPr sz="2820"/>
          </a:p>
        </p:txBody>
      </p:sp>
      <p:sp>
        <p:nvSpPr>
          <p:cNvPr id="168" name="Google Shape;168;p25"/>
          <p:cNvSpPr/>
          <p:nvPr/>
        </p:nvSpPr>
        <p:spPr>
          <a:xfrm>
            <a:off x="592675" y="1079525"/>
            <a:ext cx="7958700" cy="903000"/>
          </a:xfrm>
          <a:prstGeom prst="roundRect">
            <a:avLst>
              <a:gd fmla="val 15634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ru" sz="32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ru" sz="3200">
                <a:latin typeface="Courier New"/>
                <a:ea typeface="Courier New"/>
                <a:cs typeface="Courier New"/>
                <a:sym typeface="Courier New"/>
              </a:rPr>
              <a:t>сообщение</a:t>
            </a:r>
            <a:r>
              <a:rPr lang="ru" sz="32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592675" y="2269175"/>
            <a:ext cx="7958700" cy="2260500"/>
          </a:xfrm>
          <a:prstGeom prst="roundRect">
            <a:avLst>
              <a:gd fmla="val 7640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world!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alert(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Операция отклонена.'</a:t>
            </a: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alert(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ru" sz="26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Сеанс завершён. Поздравляем!'</a:t>
            </a:r>
            <a:r>
              <a:rPr lang="ru" sz="26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69125"/>
            <a:ext cx="85206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/>
              <a:t>Типы данных</a:t>
            </a:r>
            <a:endParaRPr sz="2620"/>
          </a:p>
        </p:txBody>
      </p:sp>
      <p:graphicFrame>
        <p:nvGraphicFramePr>
          <p:cNvPr id="175" name="Google Shape;175;p26"/>
          <p:cNvGraphicFramePr/>
          <p:nvPr/>
        </p:nvGraphicFramePr>
        <p:xfrm>
          <a:off x="228188" y="60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{E5CB6183-FEB8-4D6F-800E-BB2894B00626}</a:tableStyleId>
              </a:tblPr>
              <a:tblGrid>
                <a:gridCol w="2174725"/>
                <a:gridCol w="2481050"/>
                <a:gridCol w="4031825"/>
              </a:tblGrid>
              <a:tr h="36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800">
                          <a:solidFill>
                            <a:srgbClr val="A4C2F4"/>
                          </a:solidFill>
                        </a:rPr>
                        <a:t>Тип данных</a:t>
                      </a:r>
                      <a:endParaRPr b="1" sz="1800">
                        <a:solidFill>
                          <a:srgbClr val="A4C2F4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800">
                          <a:solidFill>
                            <a:srgbClr val="A4C2F4"/>
                          </a:solidFill>
                        </a:rPr>
                        <a:t>Значения</a:t>
                      </a:r>
                      <a:endParaRPr b="1" sz="1800">
                        <a:solidFill>
                          <a:srgbClr val="A4C2F4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800">
                          <a:solidFill>
                            <a:srgbClr val="A4C2F4"/>
                          </a:solidFill>
                        </a:rPr>
                        <a:t>Пояснение</a:t>
                      </a:r>
                      <a:endParaRPr b="1" sz="1800">
                        <a:solidFill>
                          <a:srgbClr val="A4C2F4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7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Undefined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undefined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Переменная не была инициализирована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7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Null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null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Переменная инициализирована неудачно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Boolean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false и true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Логический тип данных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String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строковые данные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Хранение текста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7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Number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все целые и вещественные числа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Работа с числами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7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Object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множество других типов данных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rgbClr val="EFEFEF"/>
                          </a:solidFill>
                        </a:rPr>
                        <a:t>Коллекции переменных разных типов, объединённых в объекты</a:t>
                      </a:r>
                      <a:endParaRPr sz="18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Создание переменных и констант</a:t>
            </a:r>
            <a:endParaRPr sz="2820"/>
          </a:p>
        </p:txBody>
      </p:sp>
      <p:sp>
        <p:nvSpPr>
          <p:cNvPr id="181" name="Google Shape;181;p27"/>
          <p:cNvSpPr/>
          <p:nvPr/>
        </p:nvSpPr>
        <p:spPr>
          <a:xfrm>
            <a:off x="625500" y="1241400"/>
            <a:ext cx="7893000" cy="1458900"/>
          </a:xfrm>
          <a:prstGeom prst="roundRect">
            <a:avLst>
              <a:gd fmla="val 19856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Создание переменных</a:t>
            </a:r>
            <a:endParaRPr sz="22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var num1;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var num2 = 100;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625500" y="2923975"/>
            <a:ext cx="7893000" cy="1225200"/>
          </a:xfrm>
          <a:prstGeom prst="roundRect">
            <a:avLst>
              <a:gd fmla="val 19856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Создание констант</a:t>
            </a:r>
            <a:endParaRPr sz="22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Courier New"/>
                <a:ea typeface="Courier New"/>
                <a:cs typeface="Courier New"/>
                <a:sym typeface="Courier New"/>
              </a:rPr>
              <a:t>const PI = 3.14;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7476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/>
              <a:t>Вывод переменных</a:t>
            </a:r>
            <a:endParaRPr sz="3020"/>
          </a:p>
        </p:txBody>
      </p:sp>
      <p:sp>
        <p:nvSpPr>
          <p:cNvPr id="188" name="Google Shape;188;p28"/>
          <p:cNvSpPr/>
          <p:nvPr/>
        </p:nvSpPr>
        <p:spPr>
          <a:xfrm>
            <a:off x="405250" y="1498125"/>
            <a:ext cx="8333400" cy="2310600"/>
          </a:xfrm>
          <a:prstGeom prst="roundRect">
            <a:avLst>
              <a:gd fmla="val 10317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var num1 = 10, num2 = 20, num3 = 30;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alert(num1); </a:t>
            </a:r>
            <a:r>
              <a:rPr lang="ru" sz="24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10</a:t>
            </a:r>
            <a:endParaRPr sz="24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alert(</a:t>
            </a:r>
            <a:r>
              <a:rPr lang="ru" sz="24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'num2 = '</a:t>
            </a: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 + num2); </a:t>
            </a:r>
            <a:r>
              <a:rPr lang="ru" sz="24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num2 = 20</a:t>
            </a:r>
            <a:endParaRPr sz="24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alert(</a:t>
            </a:r>
            <a:r>
              <a:rPr lang="ru" sz="24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`num3 = </a:t>
            </a:r>
            <a:r>
              <a:rPr lang="ru" sz="24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num3</a:t>
            </a:r>
            <a:r>
              <a:rPr lang="ru" sz="24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24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24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num3 = 30</a:t>
            </a:r>
            <a:endParaRPr sz="24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311700" y="3842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220"/>
              <a:t>Ввод данных</a:t>
            </a:r>
            <a:endParaRPr sz="3220"/>
          </a:p>
        </p:txBody>
      </p:sp>
      <p:sp>
        <p:nvSpPr>
          <p:cNvPr id="194" name="Google Shape;194;p29"/>
          <p:cNvSpPr/>
          <p:nvPr/>
        </p:nvSpPr>
        <p:spPr>
          <a:xfrm>
            <a:off x="592675" y="1202188"/>
            <a:ext cx="7958700" cy="903000"/>
          </a:xfrm>
          <a:prstGeom prst="roundRect">
            <a:avLst>
              <a:gd fmla="val 15634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3000">
                <a:latin typeface="Courier New"/>
                <a:ea typeface="Courier New"/>
                <a:cs typeface="Courier New"/>
                <a:sym typeface="Courier New"/>
              </a:rPr>
              <a:t>переменная</a:t>
            </a:r>
            <a:r>
              <a:rPr lang="ru" sz="3000">
                <a:latin typeface="Courier New"/>
                <a:ea typeface="Courier New"/>
                <a:cs typeface="Courier New"/>
                <a:sym typeface="Courier New"/>
              </a:rPr>
              <a:t> = prompt</a:t>
            </a:r>
            <a:r>
              <a:rPr lang="ru" sz="30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ru" sz="3000">
                <a:latin typeface="Courier New"/>
                <a:ea typeface="Courier New"/>
                <a:cs typeface="Courier New"/>
                <a:sym typeface="Courier New"/>
              </a:rPr>
              <a:t>сообщение</a:t>
            </a:r>
            <a:r>
              <a:rPr lang="ru" sz="30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592675" y="2402550"/>
            <a:ext cx="7958700" cy="1993800"/>
          </a:xfrm>
          <a:prstGeom prst="roundRect">
            <a:avLst>
              <a:gd fmla="val 7640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latin typeface="Courier New"/>
                <a:ea typeface="Courier New"/>
                <a:cs typeface="Courier New"/>
                <a:sym typeface="Courier New"/>
              </a:rPr>
              <a:t>var str = prompt(</a:t>
            </a:r>
            <a:r>
              <a:rPr lang="ru" sz="28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"Введите строку:"</a:t>
            </a:r>
            <a:r>
              <a:rPr lang="ru" sz="28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latin typeface="Courier New"/>
                <a:ea typeface="Courier New"/>
                <a:cs typeface="Courier New"/>
                <a:sym typeface="Courier New"/>
              </a:rPr>
              <a:t>var num = +prompt(</a:t>
            </a:r>
            <a:r>
              <a:rPr lang="ru" sz="28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"Введите число:"</a:t>
            </a:r>
            <a:r>
              <a:rPr lang="ru" sz="28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311700" y="1883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Арифметические операции</a:t>
            </a:r>
            <a:endParaRPr sz="2820"/>
          </a:p>
        </p:txBody>
      </p:sp>
      <p:graphicFrame>
        <p:nvGraphicFramePr>
          <p:cNvPr id="201" name="Google Shape;201;p30"/>
          <p:cNvGraphicFramePr/>
          <p:nvPr/>
        </p:nvGraphicFramePr>
        <p:xfrm>
          <a:off x="526175" y="89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{E5CB6183-FEB8-4D6F-800E-BB2894B00626}</a:tableStyleId>
              </a:tblPr>
              <a:tblGrid>
                <a:gridCol w="4200525"/>
                <a:gridCol w="3891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A4C2F4"/>
                          </a:solidFill>
                        </a:rPr>
                        <a:t>Название операции</a:t>
                      </a:r>
                      <a:endParaRPr b="1" sz="1600">
                        <a:solidFill>
                          <a:srgbClr val="A4C2F4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A4C2F4"/>
                          </a:solidFill>
                        </a:rPr>
                        <a:t>Применение операции</a:t>
                      </a:r>
                      <a:endParaRPr b="1" sz="1600">
                        <a:solidFill>
                          <a:srgbClr val="A4C2F4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Сложение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+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Вычитание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-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Умножение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*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Деление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/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Остаток от деления (деление по модулю)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%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Возведение в степень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**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Увеличение на 1 (инкремент)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A++ или ++A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Уменьшение на 1 (декремент)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</a:t>
                      </a: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 или --B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188300"/>
            <a:ext cx="8520600" cy="5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/>
              <a:t>Логические операции сравнения и равенства</a:t>
            </a:r>
            <a:endParaRPr sz="2620"/>
          </a:p>
        </p:txBody>
      </p:sp>
      <p:graphicFrame>
        <p:nvGraphicFramePr>
          <p:cNvPr id="207" name="Google Shape;207;p31"/>
          <p:cNvGraphicFramePr/>
          <p:nvPr/>
        </p:nvGraphicFramePr>
        <p:xfrm>
          <a:off x="526175" y="89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{E5CB6183-FEB8-4D6F-800E-BB2894B00626}</a:tableStyleId>
              </a:tblPr>
              <a:tblGrid>
                <a:gridCol w="4137225"/>
                <a:gridCol w="363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A4C2F4"/>
                          </a:solidFill>
                        </a:rPr>
                        <a:t>Название операции</a:t>
                      </a:r>
                      <a:endParaRPr b="1" sz="1600">
                        <a:solidFill>
                          <a:srgbClr val="A4C2F4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A4C2F4"/>
                          </a:solidFill>
                        </a:rPr>
                        <a:t>Применение операции</a:t>
                      </a:r>
                      <a:endParaRPr b="1" sz="1600">
                        <a:solidFill>
                          <a:srgbClr val="A4C2F4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Больше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&gt;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Меньше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&lt;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Больше или равно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&gt;=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Меньше или равно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&lt;=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Равно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==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Строго равно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===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Не равно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!=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</a:rPr>
                        <a:t>Строго не равно</a:t>
                      </a:r>
                      <a:endParaRPr sz="16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!== B</a:t>
                      </a:r>
                      <a:endParaRPr sz="16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311713" y="582550"/>
            <a:ext cx="8520600" cy="5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/>
              <a:t>Логические операции объединения и инверсии</a:t>
            </a:r>
            <a:endParaRPr sz="2720"/>
          </a:p>
        </p:txBody>
      </p:sp>
      <p:graphicFrame>
        <p:nvGraphicFramePr>
          <p:cNvPr id="213" name="Google Shape;213;p32"/>
          <p:cNvGraphicFramePr/>
          <p:nvPr/>
        </p:nvGraphicFramePr>
        <p:xfrm>
          <a:off x="683413" y="147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{E5CB6183-FEB8-4D6F-800E-BB2894B00626}</a:tableStyleId>
              </a:tblPr>
              <a:tblGrid>
                <a:gridCol w="4137225"/>
                <a:gridCol w="363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400">
                          <a:solidFill>
                            <a:srgbClr val="A4C2F4"/>
                          </a:solidFill>
                        </a:rPr>
                        <a:t>Название операции</a:t>
                      </a:r>
                      <a:endParaRPr b="1" sz="2400">
                        <a:solidFill>
                          <a:srgbClr val="A4C2F4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400">
                          <a:solidFill>
                            <a:srgbClr val="A4C2F4"/>
                          </a:solidFill>
                        </a:rPr>
                        <a:t>Применение операции</a:t>
                      </a:r>
                      <a:endParaRPr b="1" sz="2400">
                        <a:solidFill>
                          <a:srgbClr val="A4C2F4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400">
                          <a:solidFill>
                            <a:srgbClr val="EFEFEF"/>
                          </a:solidFill>
                        </a:rPr>
                        <a:t>Логическое И</a:t>
                      </a:r>
                      <a:endParaRPr sz="24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4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&amp;&amp; B</a:t>
                      </a:r>
                      <a:endParaRPr sz="24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400">
                          <a:solidFill>
                            <a:srgbClr val="EFEFEF"/>
                          </a:solidFill>
                        </a:rPr>
                        <a:t>Логическое ИЛИ</a:t>
                      </a:r>
                      <a:endParaRPr sz="24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4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|| B</a:t>
                      </a:r>
                      <a:endParaRPr sz="24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400">
                          <a:solidFill>
                            <a:srgbClr val="EFEFEF"/>
                          </a:solidFill>
                        </a:rPr>
                        <a:t>Логическое НЕ</a:t>
                      </a:r>
                      <a:endParaRPr sz="2400"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400">
                          <a:solidFill>
                            <a:srgbClr val="EFEFE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!A</a:t>
                      </a:r>
                      <a:endParaRPr sz="2400">
                        <a:solidFill>
                          <a:srgbClr val="EFEFE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311700" y="5091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Конструкция условного выбора </a:t>
            </a:r>
            <a:r>
              <a:rPr lang="ru" sz="2820">
                <a:solidFill>
                  <a:srgbClr val="A4C2F4"/>
                </a:solidFill>
              </a:rPr>
              <a:t>if..else</a:t>
            </a:r>
            <a:endParaRPr sz="2820">
              <a:solidFill>
                <a:srgbClr val="A4C2F4"/>
              </a:solidFill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592675" y="1338450"/>
            <a:ext cx="7958700" cy="2466600"/>
          </a:xfrm>
          <a:prstGeom prst="roundRect">
            <a:avLst>
              <a:gd fmla="val 6538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900"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i="1" lang="ru" sz="2900">
                <a:latin typeface="Courier New"/>
                <a:ea typeface="Courier New"/>
                <a:cs typeface="Courier New"/>
                <a:sym typeface="Courier New"/>
              </a:rPr>
              <a:t>условие или выражение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i="1" lang="ru" sz="2900">
                <a:latin typeface="Courier New"/>
                <a:ea typeface="Courier New"/>
                <a:cs typeface="Courier New"/>
                <a:sym typeface="Courier New"/>
              </a:rPr>
              <a:t>действие1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900"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i="1" lang="ru" sz="2900">
                <a:latin typeface="Courier New"/>
                <a:ea typeface="Courier New"/>
                <a:cs typeface="Courier New"/>
                <a:sym typeface="Courier New"/>
              </a:rPr>
              <a:t>действие2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311650" y="6651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/>
              <a:t>Диалоговое окно </a:t>
            </a:r>
            <a:r>
              <a:rPr lang="ru" sz="3020">
                <a:solidFill>
                  <a:srgbClr val="A4C2F4"/>
                </a:solidFill>
              </a:rPr>
              <a:t>confirm</a:t>
            </a:r>
            <a:endParaRPr sz="3020">
              <a:solidFill>
                <a:srgbClr val="A4C2F4"/>
              </a:solidFill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405250" y="1444200"/>
            <a:ext cx="8333400" cy="2255100"/>
          </a:xfrm>
          <a:prstGeom prst="roundRect">
            <a:avLst>
              <a:gd fmla="val 10317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var num;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b="1" lang="ru" sz="2400">
                <a:latin typeface="Courier New"/>
                <a:ea typeface="Courier New"/>
                <a:cs typeface="Courier New"/>
                <a:sym typeface="Courier New"/>
              </a:rPr>
              <a:t>confirm</a:t>
            </a: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24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'Хотите ввести число?'</a:t>
            </a: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	num = +prompt(</a:t>
            </a:r>
            <a:r>
              <a:rPr lang="ru" sz="2400">
                <a:solidFill>
                  <a:srgbClr val="783F04"/>
                </a:solidFill>
                <a:latin typeface="Courier New"/>
                <a:ea typeface="Courier New"/>
                <a:cs typeface="Courier New"/>
                <a:sym typeface="Courier New"/>
              </a:rPr>
              <a:t>'Введите число:'</a:t>
            </a:r>
            <a:r>
              <a:rPr lang="ru" sz="24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8850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Цикл с предусловием </a:t>
            </a:r>
            <a:r>
              <a:rPr lang="ru" sz="2820">
                <a:solidFill>
                  <a:srgbClr val="A4C2F4"/>
                </a:solidFill>
              </a:rPr>
              <a:t>while</a:t>
            </a:r>
            <a:endParaRPr sz="2820">
              <a:solidFill>
                <a:srgbClr val="A4C2F4"/>
              </a:solidFill>
            </a:endParaRPr>
          </a:p>
        </p:txBody>
      </p:sp>
      <p:sp>
        <p:nvSpPr>
          <p:cNvPr id="231" name="Google Shape;231;p35"/>
          <p:cNvSpPr/>
          <p:nvPr/>
        </p:nvSpPr>
        <p:spPr>
          <a:xfrm>
            <a:off x="592675" y="1619150"/>
            <a:ext cx="7958700" cy="1740300"/>
          </a:xfrm>
          <a:prstGeom prst="roundRect">
            <a:avLst>
              <a:gd fmla="val 12937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900"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ru" sz="29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ru" sz="2900">
                <a:latin typeface="Courier New"/>
                <a:ea typeface="Courier New"/>
                <a:cs typeface="Courier New"/>
                <a:sym typeface="Courier New"/>
              </a:rPr>
              <a:t>условие или выражение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i="1" lang="ru" sz="2900">
                <a:latin typeface="Courier New"/>
                <a:ea typeface="Courier New"/>
                <a:cs typeface="Courier New"/>
                <a:sym typeface="Courier New"/>
              </a:rPr>
              <a:t>действие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311725" y="7475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Цикл с постусловием </a:t>
            </a:r>
            <a:r>
              <a:rPr lang="ru" sz="2820">
                <a:solidFill>
                  <a:srgbClr val="A4C2F4"/>
                </a:solidFill>
              </a:rPr>
              <a:t>do..while</a:t>
            </a:r>
            <a:endParaRPr sz="2820">
              <a:solidFill>
                <a:srgbClr val="A4C2F4"/>
              </a:solidFill>
            </a:endParaRPr>
          </a:p>
        </p:txBody>
      </p:sp>
      <p:sp>
        <p:nvSpPr>
          <p:cNvPr id="237" name="Google Shape;237;p36"/>
          <p:cNvSpPr/>
          <p:nvPr/>
        </p:nvSpPr>
        <p:spPr>
          <a:xfrm>
            <a:off x="592675" y="1500100"/>
            <a:ext cx="7958700" cy="1978500"/>
          </a:xfrm>
          <a:prstGeom prst="roundRect">
            <a:avLst>
              <a:gd fmla="val 12937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900"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i="1" lang="ru" sz="2900">
                <a:latin typeface="Courier New"/>
                <a:ea typeface="Courier New"/>
                <a:cs typeface="Courier New"/>
                <a:sym typeface="Courier New"/>
              </a:rPr>
              <a:t>действие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900"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ru" sz="2900">
                <a:latin typeface="Courier New"/>
                <a:ea typeface="Courier New"/>
                <a:cs typeface="Courier New"/>
                <a:sym typeface="Courier New"/>
              </a:rPr>
              <a:t>условие или выражение</a:t>
            </a:r>
            <a:r>
              <a:rPr lang="ru" sz="29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311700" y="9309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Параметрический цикл </a:t>
            </a:r>
            <a:r>
              <a:rPr lang="ru" sz="2820">
                <a:solidFill>
                  <a:srgbClr val="A4C2F4"/>
                </a:solidFill>
              </a:rPr>
              <a:t>for</a:t>
            </a:r>
            <a:endParaRPr sz="2820">
              <a:solidFill>
                <a:srgbClr val="A4C2F4"/>
              </a:solidFill>
            </a:endParaRPr>
          </a:p>
        </p:txBody>
      </p:sp>
      <p:sp>
        <p:nvSpPr>
          <p:cNvPr id="243" name="Google Shape;243;p37"/>
          <p:cNvSpPr/>
          <p:nvPr/>
        </p:nvSpPr>
        <p:spPr>
          <a:xfrm>
            <a:off x="311700" y="1747750"/>
            <a:ext cx="8520600" cy="1483200"/>
          </a:xfrm>
          <a:prstGeom prst="roundRect">
            <a:avLst>
              <a:gd fmla="val 10288" name="adj"/>
            </a:avLst>
          </a:prstGeom>
          <a:solidFill>
            <a:srgbClr val="EFEFE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ru" sz="27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ru" sz="2700">
                <a:latin typeface="Courier New"/>
                <a:ea typeface="Courier New"/>
                <a:cs typeface="Courier New"/>
                <a:sym typeface="Courier New"/>
              </a:rPr>
              <a:t>инициализация</a:t>
            </a:r>
            <a:r>
              <a:rPr lang="ru" sz="270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i="1" lang="ru" sz="2700">
                <a:latin typeface="Courier New"/>
                <a:ea typeface="Courier New"/>
                <a:cs typeface="Courier New"/>
                <a:sym typeface="Courier New"/>
              </a:rPr>
              <a:t>условие</a:t>
            </a:r>
            <a:r>
              <a:rPr lang="ru" sz="270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i="1" lang="ru" sz="2700">
                <a:latin typeface="Courier New"/>
                <a:ea typeface="Courier New"/>
                <a:cs typeface="Courier New"/>
                <a:sym typeface="Courier New"/>
              </a:rPr>
              <a:t>изменение</a:t>
            </a:r>
            <a:r>
              <a:rPr lang="ru" sz="270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i="1" lang="ru" sz="2700">
                <a:latin typeface="Courier New"/>
                <a:ea typeface="Courier New"/>
                <a:cs typeface="Courier New"/>
                <a:sym typeface="Courier New"/>
              </a:rPr>
              <a:t>действие</a:t>
            </a:r>
            <a:r>
              <a:rPr lang="ru" sz="27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Задача 1</a:t>
            </a:r>
            <a:endParaRPr sz="2820"/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500">
                <a:solidFill>
                  <a:srgbClr val="EFEFEF"/>
                </a:solidFill>
              </a:rPr>
              <a:t>Напишите скрипт, который запрашивает у пользователя число </a:t>
            </a:r>
            <a:r>
              <a:rPr lang="ru" sz="2500">
                <a:solidFill>
                  <a:srgbClr val="A4C2F4"/>
                </a:solidFill>
              </a:rPr>
              <a:t>N</a:t>
            </a:r>
            <a:r>
              <a:rPr lang="ru" sz="2500">
                <a:solidFill>
                  <a:srgbClr val="EFEFEF"/>
                </a:solidFill>
              </a:rPr>
              <a:t> и выводит все четные числа от </a:t>
            </a:r>
            <a:r>
              <a:rPr lang="ru" sz="2500">
                <a:solidFill>
                  <a:srgbClr val="A4C2F4"/>
                </a:solidFill>
              </a:rPr>
              <a:t>2</a:t>
            </a:r>
            <a:r>
              <a:rPr lang="ru" sz="2500">
                <a:solidFill>
                  <a:srgbClr val="EFEFEF"/>
                </a:solidFill>
              </a:rPr>
              <a:t> до </a:t>
            </a:r>
            <a:r>
              <a:rPr lang="ru" sz="2500">
                <a:solidFill>
                  <a:srgbClr val="A4C2F4"/>
                </a:solidFill>
              </a:rPr>
              <a:t>N</a:t>
            </a:r>
            <a:r>
              <a:rPr lang="ru" sz="2500">
                <a:solidFill>
                  <a:srgbClr val="EFEFEF"/>
                </a:solidFill>
              </a:rPr>
              <a:t>.</a:t>
            </a:r>
            <a:endParaRPr sz="25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Задача 2</a:t>
            </a:r>
            <a:endParaRPr sz="2820"/>
          </a:p>
        </p:txBody>
      </p:sp>
      <p:sp>
        <p:nvSpPr>
          <p:cNvPr id="255" name="Google Shape;25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>
                <a:solidFill>
                  <a:srgbClr val="EFEFEF"/>
                </a:solidFill>
              </a:rPr>
              <a:t>Напишите скрипт, который принимает от пользователя величину </a:t>
            </a:r>
            <a:r>
              <a:rPr lang="ru" sz="2300">
                <a:solidFill>
                  <a:srgbClr val="A4C2F4"/>
                </a:solidFill>
              </a:rPr>
              <a:t>годовой депозитной ставки</a:t>
            </a:r>
            <a:r>
              <a:rPr lang="ru" sz="2300">
                <a:solidFill>
                  <a:srgbClr val="EFEFEF"/>
                </a:solidFill>
              </a:rPr>
              <a:t> (в процентах) и выводит количество </a:t>
            </a:r>
            <a:r>
              <a:rPr lang="ru" sz="2300">
                <a:solidFill>
                  <a:srgbClr val="A4C2F4"/>
                </a:solidFill>
              </a:rPr>
              <a:t>лет</a:t>
            </a:r>
            <a:r>
              <a:rPr lang="ru" sz="2300">
                <a:solidFill>
                  <a:srgbClr val="EFEFEF"/>
                </a:solidFill>
              </a:rPr>
              <a:t>, по прошествии которых вклад увеличится </a:t>
            </a:r>
            <a:r>
              <a:rPr lang="ru" sz="2300">
                <a:solidFill>
                  <a:srgbClr val="A4C2F4"/>
                </a:solidFill>
              </a:rPr>
              <a:t>вдвое</a:t>
            </a:r>
            <a:r>
              <a:rPr lang="ru" sz="2300">
                <a:solidFill>
                  <a:srgbClr val="EFEFEF"/>
                </a:solidFill>
              </a:rPr>
              <a:t>.</a:t>
            </a:r>
            <a:endParaRPr sz="23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Задача 3</a:t>
            </a:r>
            <a:endParaRPr sz="2820"/>
          </a:p>
        </p:txBody>
      </p:sp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>
                <a:solidFill>
                  <a:srgbClr val="EFEFEF"/>
                </a:solidFill>
              </a:rPr>
              <a:t>Напишиту игру </a:t>
            </a:r>
            <a:r>
              <a:rPr lang="ru" sz="2300">
                <a:solidFill>
                  <a:srgbClr val="A4C2F4"/>
                </a:solidFill>
              </a:rPr>
              <a:t>"Угадай-ка"</a:t>
            </a:r>
            <a:r>
              <a:rPr lang="ru" sz="2300">
                <a:solidFill>
                  <a:srgbClr val="EFEFEF"/>
                </a:solidFill>
              </a:rPr>
              <a:t>. Программа загадывает случайно число в диапазоне от </a:t>
            </a:r>
            <a:r>
              <a:rPr lang="ru" sz="2300">
                <a:solidFill>
                  <a:srgbClr val="A4C2F4"/>
                </a:solidFill>
              </a:rPr>
              <a:t>1</a:t>
            </a:r>
            <a:r>
              <a:rPr lang="ru" sz="2300">
                <a:solidFill>
                  <a:srgbClr val="EFEFEF"/>
                </a:solidFill>
              </a:rPr>
              <a:t> до </a:t>
            </a:r>
            <a:r>
              <a:rPr lang="ru" sz="2300">
                <a:solidFill>
                  <a:srgbClr val="A4C2F4"/>
                </a:solidFill>
              </a:rPr>
              <a:t>100</a:t>
            </a:r>
            <a:r>
              <a:rPr lang="ru" sz="2300">
                <a:solidFill>
                  <a:srgbClr val="EFEFEF"/>
                </a:solidFill>
              </a:rPr>
              <a:t>, а пользователь пытается его угадать. На угадывание даётся </a:t>
            </a:r>
            <a:r>
              <a:rPr lang="ru" sz="2300">
                <a:solidFill>
                  <a:srgbClr val="A4C2F4"/>
                </a:solidFill>
              </a:rPr>
              <a:t>5</a:t>
            </a:r>
            <a:r>
              <a:rPr lang="ru" sz="2300">
                <a:solidFill>
                  <a:srgbClr val="EFEFEF"/>
                </a:solidFill>
              </a:rPr>
              <a:t> попыток. После каждого введённого числа программа сообщает пользователю, </a:t>
            </a:r>
            <a:r>
              <a:rPr lang="ru" sz="2300">
                <a:solidFill>
                  <a:srgbClr val="A4C2F4"/>
                </a:solidFill>
              </a:rPr>
              <a:t>больше </a:t>
            </a:r>
            <a:r>
              <a:rPr lang="ru" sz="2300">
                <a:solidFill>
                  <a:srgbClr val="EFEFEF"/>
                </a:solidFill>
              </a:rPr>
              <a:t>или </a:t>
            </a:r>
            <a:r>
              <a:rPr lang="ru" sz="2300">
                <a:solidFill>
                  <a:srgbClr val="A4C2F4"/>
                </a:solidFill>
              </a:rPr>
              <a:t>меньше </a:t>
            </a:r>
            <a:r>
              <a:rPr lang="ru" sz="2300">
                <a:solidFill>
                  <a:srgbClr val="EFEFEF"/>
                </a:solidFill>
              </a:rPr>
              <a:t>его число, чем загаданное.</a:t>
            </a:r>
            <a:endParaRPr sz="23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1395450"/>
            <a:ext cx="8520600" cy="23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/>
              <a:t>Спасибо за внимание!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